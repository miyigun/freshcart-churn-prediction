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oyun içeren bir resim&#10;&#10;Açıklama otomatik olarak oluşturuldu">
            <a:extLst>
              <a:ext uri="{FF2B5EF4-FFF2-40B4-BE49-F238E27FC236}">
                <a16:creationId xmlns:a16="http://schemas.microsoft.com/office/drawing/2014/main" id="{15C45F43-A678-D5E5-01C5-97DC936F5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991696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5DC6072D-10EC-8A7F-91B7-EBAA56EF4650}"/>
              </a:ext>
            </a:extLst>
          </p:cNvPr>
          <p:cNvSpPr txBox="1"/>
          <p:nvPr/>
        </p:nvSpPr>
        <p:spPr>
          <a:xfrm>
            <a:off x="651753" y="5239114"/>
            <a:ext cx="78404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AI-Driven Churn Prevention</a:t>
            </a:r>
          </a:p>
          <a:p>
            <a:r>
              <a:rPr lang="en-US" sz="1600" b="0" i="0" dirty="0">
                <a:solidFill>
                  <a:schemeClr val="bg1"/>
                </a:solidFill>
                <a:effectLst/>
                <a:latin typeface="-apple-system"/>
              </a:rPr>
              <a:t>End-to-End Machine Learning Solution for Customer Retention in E-Commerce</a:t>
            </a:r>
          </a:p>
          <a:p>
            <a:r>
              <a:rPr lang="en-US" sz="1400" b="0" i="0" dirty="0">
                <a:solidFill>
                  <a:schemeClr val="bg1"/>
                </a:solidFill>
                <a:effectLst/>
                <a:latin typeface="-apple-system"/>
              </a:rPr>
              <a:t>Securing $1.6M in Annual Revenue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Murat IYIGUN</a:t>
            </a:r>
          </a:p>
          <a:p>
            <a:r>
              <a:rPr lang="en-US" sz="1200" dirty="0">
                <a:solidFill>
                  <a:schemeClr val="bg1"/>
                </a:solidFill>
              </a:rPr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3388424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1763"/>
            <a:ext cx="8229600" cy="82127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Challenge &amp; Opportunity</a:t>
            </a:r>
          </a:p>
          <a:p>
            <a:pPr marL="0" indent="0" algn="ctr"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-apple-system"/>
              </a:rPr>
              <a:t>The Business Problem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67204CB1-CFE2-8C00-5264-A1E964B44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2038253"/>
            <a:ext cx="702318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The Problem: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Our customer churn rate has surged from 18% to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23%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in the last 6 months.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A4457C8-F6CF-477E-3B69-8B6101E94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2998334"/>
            <a:ext cx="750846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The Cost: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Every lost customer represents an average revenue loss of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approximately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$150/month.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42AB8629-B63E-2E14-1789-5107D30F3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918525"/>
            <a:ext cx="83612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Traditional Blind Spot: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Traditional marketing methods lack accuracy,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meaning high-risk users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not efficiently identified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. This leads to inefficient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"spray and pray" campaigns. 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D9187241-D18B-0CA4-E4AE-8474AE431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15715"/>
            <a:ext cx="79316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The Opportunity: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Our ML-driven system 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LightGBM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) detects subtle churn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signals early, such as velocity and basket shrinkage.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7E3064-D203-1B49-20A2-21EB7017F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1763"/>
            <a:ext cx="8229600" cy="82127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Solution: The Early Warning System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the AI Works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617FF886-E0C9-EB1B-0A93-A4063858A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49" y="1761253"/>
            <a:ext cx="836126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Goal: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To predict customers at risk of churning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14 days in advance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, providing the marketing team a critical two-week window for intervention. 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3A1632A-3E03-36E1-6AB4-FECF9237F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49" y="2605542"/>
            <a:ext cx="82394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AI Technology: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system is powered by state-of-the-art Machine Learning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algorithms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LightGBM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), moving beyond simple rule-based logic to recognize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complex churn signals. 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A309DDD-467B-7AA5-7603-7C726067A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3804222"/>
            <a:ext cx="805989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Key Monitoring Features: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model monitors crucial behavioral patterns,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including purchase frequency, basket size trends, and product diversity.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74B0D8A1-78EF-9D67-21C2-D77A2BEFC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4700216"/>
            <a:ext cx="805989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Top Predictor: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Purchase Velocity (A sudden drop in ordering speed)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the 1 predictor of churn.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C9E35690-5574-7D94-DB1C-D0E64CD25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5620407"/>
            <a:ext cx="830355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Data Foundation: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We built this intelligent Early Warning System by analyzing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over 3 Million historical orders.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83CE2E-7D2C-47F5-D9FD-BC029130DF25}"/>
              </a:ext>
            </a:extLst>
          </p:cNvPr>
          <p:cNvSpPr txBox="1">
            <a:spLocks/>
          </p:cNvSpPr>
          <p:nvPr/>
        </p:nvSpPr>
        <p:spPr>
          <a:xfrm>
            <a:off x="457200" y="641763"/>
            <a:ext cx="8229600" cy="8212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Intervention Strategy and Cost</a:t>
            </a:r>
          </a:p>
          <a:p>
            <a:pPr marL="0" indent="0" algn="ctr"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</a:rPr>
              <a:t>Action Plan and Budget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D50ECCD-0537-4681-AEB0-72F8DA759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1761253"/>
            <a:ext cx="836126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Campaign Cost: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We require approval for a pilot marketing budget of approximately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~$150,000 (Incentives)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per year for retention campaigns. 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7E894E5-8191-77D1-03F6-E6AB03B09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49" y="2744042"/>
            <a:ext cx="839973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Inactivity Risk (Recency):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Risk increases by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60%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if a customer hasn't ordered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in the last 30 days.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37B65405-9823-1F5B-C31C-7CD3DC121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1" y="3724389"/>
            <a:ext cx="831637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Targeted Incentives: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Velocity Drop: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Targeted "We miss you" coupons are recommended.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Basket Shrinkage: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Free shipping offers on the next order can counteract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gradual basket size reduction.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2F53E8E3-3E72-387A-C1CB-0328023A3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5258734"/>
            <a:ext cx="808554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Integration Requirement: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execution of these automated, personalized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interventions requires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IT support for CRM integration.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4C1FEE-E593-FC06-065D-D1EB369B0A61}"/>
              </a:ext>
            </a:extLst>
          </p:cNvPr>
          <p:cNvSpPr txBox="1">
            <a:spLocks/>
          </p:cNvSpPr>
          <p:nvPr/>
        </p:nvSpPr>
        <p:spPr>
          <a:xfrm>
            <a:off x="457200" y="641763"/>
            <a:ext cx="8229600" cy="8212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</a:rPr>
              <a:t>Financial Impact &amp; Model Reliability</a:t>
            </a:r>
          </a:p>
          <a:p>
            <a:pPr marL="0" indent="0" algn="ctr"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</a:rPr>
              <a:t>The Value Proposition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74B56F1-BE8C-11FE-1D56-BA5B9141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1899752"/>
            <a:ext cx="83612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Revenue Secured (Projected):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~1,760,000/</a:t>
            </a:r>
            <a:r>
              <a:rPr lang="en-US" b="1" i="1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year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(</a:t>
            </a:r>
            <a:r>
              <a:rPr lang="en-US" b="0" i="1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Alsocitedas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 1,850,000).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D85F827A-CBEC-9AD9-016A-D5D4FE56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1" y="2572337"/>
            <a:ext cx="707244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Net Profit: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After campaign costs, the project delivers an expected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~ $1.61 Million / year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in net profit/additional retained revenue.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704B5A6C-E74E-AE7B-89AE-093D52B8F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1" y="3454667"/>
            <a:ext cx="76623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Business Strategy Focus: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We optimized the model to prioritize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Recall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(catching churners)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over Precision.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0C082D98-7789-61CD-23F9-85FE7FD52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4404251"/>
            <a:ext cx="734175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High Catch Rate: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model successfully identifies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81 out of every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100 potential churners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(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81% Recall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212954AF-B6A6-3992-F56F-200A9B0C0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1" y="5353835"/>
            <a:ext cx="84446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Why 81% Recall Matters: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In churn prediction, a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False Negative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(missing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a customer who leaves) is much costlier than a False Positive (giving a discount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to an active customer).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306582-B481-3C66-FE05-9CF2B753F5B8}"/>
              </a:ext>
            </a:extLst>
          </p:cNvPr>
          <p:cNvSpPr txBox="1">
            <a:spLocks/>
          </p:cNvSpPr>
          <p:nvPr/>
        </p:nvSpPr>
        <p:spPr>
          <a:xfrm>
            <a:off x="457200" y="641763"/>
            <a:ext cx="8229600" cy="8212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</a:rPr>
              <a:t>Financial Summary and Status</a:t>
            </a:r>
          </a:p>
          <a:p>
            <a:pPr marL="0" indent="0" algn="ctr"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</a:rPr>
              <a:t>Key Metrics Overview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DE6DA17-040B-9DF8-EFC7-DFCA4F999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1761253"/>
            <a:ext cx="836126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Opportunity Highlight: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Identifying at-risk customers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14 days in advance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allows us to intervene proactively and retain them.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39C9295-8993-9200-00D4-C9B3CB61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2821199"/>
            <a:ext cx="684802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Net Profit: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~$1.7 Million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in additional retained revenue per year.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4725D57B-26E7-96DD-75E2-4DDA63BAE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1" y="3593166"/>
            <a:ext cx="809195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Return on Investment (ROI):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projected ROI is approximately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~1070% 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9843C7D-6713-19E3-EDFC-11B0FBA31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1" y="4369042"/>
            <a:ext cx="73674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Simple ROI Metric: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For every 1</a:t>
            </a:r>
            <a:r>
              <a:rPr lang="en-US" b="0" i="1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spent</a:t>
            </a: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</a:t>
            </a:r>
            <a:r>
              <a:rPr lang="en-US" b="1" i="1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on the </a:t>
            </a:r>
            <a:r>
              <a:rPr lang="en-US" b="1" i="1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campaign</a:t>
            </a:r>
            <a:r>
              <a:rPr lang="en-US" b="1" i="0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,</a:t>
            </a:r>
            <a:r>
              <a:rPr lang="en-US" b="1" i="1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we</a:t>
            </a:r>
            <a:r>
              <a:rPr lang="en-US" b="1" i="1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save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11.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481EB498-4AAF-85F5-D6E3-06F4DAE34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05" y="5144918"/>
            <a:ext cx="811119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Project Status: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project is technically complete, validated, and achieves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a strong predictive capability score (ROC-AUC of 0.7644).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30B8B4-9E9E-7DA0-88AF-A8901BD84315}"/>
              </a:ext>
            </a:extLst>
          </p:cNvPr>
          <p:cNvSpPr txBox="1">
            <a:spLocks/>
          </p:cNvSpPr>
          <p:nvPr/>
        </p:nvSpPr>
        <p:spPr>
          <a:xfrm>
            <a:off x="457200" y="641763"/>
            <a:ext cx="8229600" cy="8212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</a:rPr>
              <a:t>Operationalization and Key Drivers</a:t>
            </a:r>
          </a:p>
          <a:p>
            <a:pPr marL="0" indent="0" algn="ctr"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Integration and Why Customers Leave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09DB972-6D81-0341-2FBA-212B1FF1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1761253"/>
            <a:ext cx="836126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System Workflow: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system runs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every night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to identify "High-Risk" customers and feed this data to marketing systems. 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E57ABD1-E3E2-832D-B050-CE2F56CC5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2697095"/>
            <a:ext cx="767517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Predictive Power: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model is highly reliable, analyzing over 3 Million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historical orders.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E56DA60-F3CC-A70C-E420-814F6A403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02" y="3621303"/>
            <a:ext cx="811119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Top 3 Churn Drivers (Key Drivers):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model identifies the main reasons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customers leave: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Decrease in order frequency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(Purchase Velocity)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Reduction in average basket value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Days Since Last Order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(Recency)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FECC359-102D-55BE-3615-7108FCACA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05" y="5376508"/>
            <a:ext cx="741869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Technical Status: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The project is technically complete, validated, and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achieves  a 77% AUC score.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D38F70-F62A-DC19-A60E-5C486C7E553D}"/>
              </a:ext>
            </a:extLst>
          </p:cNvPr>
          <p:cNvSpPr txBox="1">
            <a:spLocks/>
          </p:cNvSpPr>
          <p:nvPr/>
        </p:nvSpPr>
        <p:spPr>
          <a:xfrm>
            <a:off x="457200" y="641763"/>
            <a:ext cx="8229600" cy="8212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and Call to Action</a:t>
            </a:r>
          </a:p>
          <a:p>
            <a:pPr marL="0" indent="0" algn="ctr"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1BAC6CE-5BE9-DE7B-FDEF-B49BD5EC8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1899752"/>
            <a:ext cx="83612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Key Highlight Recap: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Projected Annual Revenue Protection: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$1.8 Million.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9CD4713-D255-23DA-4E93-EC2CDA583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2736503"/>
            <a:ext cx="798936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Value Proposition: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We have built an intelligent, validated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"Early Warning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System"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that successfully identifies customers who are about to leave.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3DDA3BA-1B2F-0E1D-5052-19835A681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0" y="3717604"/>
            <a:ext cx="83740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Recommendation (Call to Action):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b="0" i="0" dirty="0">
              <a:solidFill>
                <a:schemeClr val="bg1"/>
              </a:solidFill>
              <a:effectLst/>
              <a:latin typeface="Helveticasinav" panose="02000503000000020004" pitchFamily="2" charset="-94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Launch a 1-month Pilot Program (A/B Test)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immediately to measure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the real-world impact and confirm ROI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projections</a:t>
            </a:r>
            <a:r>
              <a:rPr lang="en-US" b="1" i="0" dirty="0" err="1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Days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Since Last Order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    (Recency).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b="1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Authorize IT resources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 for integrating the daily risk scores into the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Helveticasinav" panose="02000503000000020004" pitchFamily="2" charset="-94"/>
              </a:rPr>
              <a:t>     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sinav" panose="02000503000000020004" pitchFamily="2" charset="-94"/>
              </a:rPr>
              <a:t>CRM/Marketing automation workflow.</a:t>
            </a:r>
            <a:endParaRPr lang="en-US" dirty="0">
              <a:solidFill>
                <a:schemeClr val="bg1"/>
              </a:solidFill>
              <a:latin typeface="Helveticasinav" panose="02000503000000020004" pitchFamily="2" charset="-9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782</Words>
  <Application>Microsoft Office PowerPoint</Application>
  <PresentationFormat>Ekran Gösterisi (4:3)</PresentationFormat>
  <Paragraphs>83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-apple-system</vt:lpstr>
      <vt:lpstr>Arial</vt:lpstr>
      <vt:lpstr>Calibri</vt:lpstr>
      <vt:lpstr>Helveticasinav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Murat İyigün</dc:creator>
  <cp:keywords/>
  <dc:description>generated using python-pptx</dc:description>
  <cp:lastModifiedBy>Murat İyigün</cp:lastModifiedBy>
  <cp:revision>27</cp:revision>
  <dcterms:created xsi:type="dcterms:W3CDTF">2013-01-27T09:14:16Z</dcterms:created>
  <dcterms:modified xsi:type="dcterms:W3CDTF">2025-11-30T15:29:56Z</dcterms:modified>
  <cp:category/>
</cp:coreProperties>
</file>